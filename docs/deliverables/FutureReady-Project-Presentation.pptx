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549" y="-62136"/>
            <a:ext cx="9482138" cy="6743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580" y="830535"/>
            <a:ext cx="4713937" cy="8096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680" b="1" spc="-117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FutureReady</a:t>
            </a:r>
            <a:endParaRPr lang="en-US" sz="4680" dirty="0"/>
          </a:p>
        </p:txBody>
      </p:sp>
      <p:sp>
        <p:nvSpPr>
          <p:cNvPr id="5" name="Text 2"/>
          <p:cNvSpPr/>
          <p:nvPr/>
        </p:nvSpPr>
        <p:spPr>
          <a:xfrm>
            <a:off x="548580" y="1797669"/>
            <a:ext cx="4530231" cy="870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6"/>
              </a:lnSpc>
              <a:buNone/>
            </a:pPr>
            <a:r>
              <a:rPr lang="en-US" sz="173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From resume experience to career</a:t>
            </a:r>
            <a:endParaRPr lang="en-US" sz="1730" dirty="0"/>
          </a:p>
          <a:p>
            <a:pPr algn="l" indent="0" marL="0">
              <a:lnSpc>
                <a:spcPts val="2246"/>
              </a:lnSpc>
              <a:buNone/>
            </a:pPr>
            <a:r>
              <a:rPr lang="en-US" sz="173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direction and credible learning</a:t>
            </a:r>
            <a:endParaRPr lang="en-US" sz="1730" dirty="0"/>
          </a:p>
          <a:p>
            <a:pPr algn="l" indent="0" marL="0">
              <a:lnSpc>
                <a:spcPts val="2246"/>
              </a:lnSpc>
              <a:buNone/>
            </a:pPr>
            <a:r>
              <a:rPr lang="en-US" sz="173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resources.</a:t>
            </a:r>
            <a:endParaRPr lang="en-US" sz="1730" dirty="0"/>
          </a:p>
        </p:txBody>
      </p:sp>
      <p:sp>
        <p:nvSpPr>
          <p:cNvPr id="6" name="Text 3"/>
          <p:cNvSpPr/>
          <p:nvPr/>
        </p:nvSpPr>
        <p:spPr>
          <a:xfrm>
            <a:off x="548580" y="3116014"/>
            <a:ext cx="4101971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3645"/>
              </a:spcBef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Local multilingual semantic matching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548580" y="3508028"/>
            <a:ext cx="4819479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ABBCB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65 career descriptions, potential SDG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ABBCB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contributions and source-reviewed courses</a:t>
            </a:r>
            <a:endParaRPr lang="en-US" sz="14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1079153"/>
            <a:ext cx="3369565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240" b="1" spc="-81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problem:</a:t>
            </a:r>
            <a:endParaRPr lang="en-US" sz="3240" dirty="0"/>
          </a:p>
        </p:txBody>
      </p:sp>
      <p:sp>
        <p:nvSpPr>
          <p:cNvPr id="4" name="Text 2"/>
          <p:cNvSpPr/>
          <p:nvPr/>
        </p:nvSpPr>
        <p:spPr>
          <a:xfrm>
            <a:off x="548580" y="1544092"/>
            <a:ext cx="1680999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240" b="1" spc="-81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career</a:t>
            </a:r>
            <a:endParaRPr lang="en-US" sz="3240" dirty="0"/>
          </a:p>
        </p:txBody>
      </p:sp>
      <p:sp>
        <p:nvSpPr>
          <p:cNvPr id="5" name="Text 3"/>
          <p:cNvSpPr/>
          <p:nvPr/>
        </p:nvSpPr>
        <p:spPr>
          <a:xfrm>
            <a:off x="548580" y="2009031"/>
            <a:ext cx="2951366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240" b="1" spc="-81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exploration</a:t>
            </a:r>
            <a:endParaRPr lang="en-US" sz="3240" dirty="0"/>
          </a:p>
        </p:txBody>
      </p:sp>
      <p:sp>
        <p:nvSpPr>
          <p:cNvPr id="6" name="Text 4"/>
          <p:cNvSpPr/>
          <p:nvPr/>
        </p:nvSpPr>
        <p:spPr>
          <a:xfrm>
            <a:off x="548580" y="2473970"/>
            <a:ext cx="3531118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240" b="1" spc="-81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 fragmented</a:t>
            </a:r>
            <a:endParaRPr lang="en-US" sz="3240" dirty="0"/>
          </a:p>
        </p:txBody>
      </p:sp>
      <p:sp>
        <p:nvSpPr>
          <p:cNvPr id="7" name="Shape 5"/>
          <p:cNvSpPr/>
          <p:nvPr/>
        </p:nvSpPr>
        <p:spPr>
          <a:xfrm>
            <a:off x="4390095" y="0"/>
            <a:ext cx="4752975" cy="5143500"/>
          </a:xfrm>
          <a:prstGeom prst="rect">
            <a:avLst/>
          </a:prstGeom>
          <a:solidFill>
            <a:srgbClr val="8FB8A0"/>
          </a:solidFill>
          <a:ln/>
        </p:spPr>
      </p:sp>
      <p:sp>
        <p:nvSpPr>
          <p:cNvPr id="8" name="Text 6"/>
          <p:cNvSpPr/>
          <p:nvPr/>
        </p:nvSpPr>
        <p:spPr>
          <a:xfrm>
            <a:off x="4754910" y="1106537"/>
            <a:ext cx="4344494" cy="727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Students and career changers struggle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 connect experience with technical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role descriptions</a:t>
            </a:r>
            <a:endParaRPr lang="en-US" sz="1440" dirty="0"/>
          </a:p>
        </p:txBody>
      </p:sp>
      <p:sp>
        <p:nvSpPr>
          <p:cNvPr id="9" name="Text 7"/>
          <p:cNvSpPr/>
          <p:nvPr/>
        </p:nvSpPr>
        <p:spPr>
          <a:xfrm>
            <a:off x="4754910" y="2076971"/>
            <a:ext cx="3677870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Learning resources are scattered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across providers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4754910" y="2809652"/>
            <a:ext cx="5005023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Unexplained scores and unclear course costs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 mislead decisions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4754910" y="3542333"/>
            <a:ext cx="5151968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Users need one transparent starting point—not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5101679" y="3780086"/>
            <a:ext cx="3297205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 automated hiring verdict</a:t>
            </a:r>
            <a:endParaRPr lang="en-US" sz="14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7006538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Who FutureReady is designed for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954411"/>
            <a:ext cx="2588984" cy="836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Students and recent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graduates exploring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AI-related careers</a:t>
            </a:r>
            <a:endParaRPr lang="en-US" sz="1620" dirty="0"/>
          </a:p>
        </p:txBody>
      </p:sp>
      <p:sp>
        <p:nvSpPr>
          <p:cNvPr id="5" name="Text 3"/>
          <p:cNvSpPr/>
          <p:nvPr/>
        </p:nvSpPr>
        <p:spPr>
          <a:xfrm>
            <a:off x="3352726" y="1954411"/>
            <a:ext cx="3094829" cy="1114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Early-career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professionals and career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changers comparing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transferable experience</a:t>
            </a:r>
            <a:endParaRPr lang="en-US" sz="1620" dirty="0"/>
          </a:p>
        </p:txBody>
      </p:sp>
      <p:sp>
        <p:nvSpPr>
          <p:cNvPr id="6" name="Text 4"/>
          <p:cNvSpPr/>
          <p:nvPr/>
        </p:nvSpPr>
        <p:spPr>
          <a:xfrm>
            <a:off x="6156945" y="1954411"/>
            <a:ext cx="2874459" cy="836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Career advisers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supporting authorized,</a:t>
            </a:r>
            <a:endParaRPr lang="en-US" sz="1620" dirty="0"/>
          </a:p>
          <a:p>
            <a:pPr algn="l" indent="0" marL="0">
              <a:lnSpc>
                <a:spcPts val="2187"/>
              </a:lnSpc>
              <a:buNone/>
            </a:pPr>
            <a:r>
              <a:rPr lang="en-US" sz="162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human-led exploration</a:t>
            </a:r>
            <a:endParaRPr lang="en-US" sz="1620" dirty="0"/>
          </a:p>
        </p:txBody>
      </p:sp>
      <p:sp>
        <p:nvSpPr>
          <p:cNvPr id="7" name="Shape 5"/>
          <p:cNvSpPr/>
          <p:nvPr/>
        </p:nvSpPr>
        <p:spPr>
          <a:xfrm>
            <a:off x="0" y="4005411"/>
            <a:ext cx="9144000" cy="676275"/>
          </a:xfrm>
          <a:prstGeom prst="rect">
            <a:avLst/>
          </a:prstGeom>
          <a:solidFill>
            <a:srgbClr val="8FB8A0"/>
          </a:solidFill>
          <a:ln/>
        </p:spPr>
      </p:sp>
      <p:sp>
        <p:nvSpPr>
          <p:cNvPr id="8" name="Text 6"/>
          <p:cNvSpPr/>
          <p:nvPr/>
        </p:nvSpPr>
        <p:spPr>
          <a:xfrm>
            <a:off x="548580" y="4197846"/>
            <a:ext cx="742077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English-first interface with an optional Chinese interface</a:t>
            </a:r>
            <a:endParaRPr lang="en-US" sz="166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580" y="1749772"/>
            <a:ext cx="2438400" cy="1319213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63" y="1749772"/>
            <a:ext cx="2438400" cy="1319213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56982" y="1749772"/>
            <a:ext cx="2438400" cy="13192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9030496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Scope: one connected exploration journey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471613"/>
            <a:ext cx="593564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880" dirty="0"/>
          </a:p>
        </p:txBody>
      </p:sp>
      <p:sp>
        <p:nvSpPr>
          <p:cNvPr id="5" name="Text 3"/>
          <p:cNvSpPr/>
          <p:nvPr/>
        </p:nvSpPr>
        <p:spPr>
          <a:xfrm>
            <a:off x="1144042" y="1535344"/>
            <a:ext cx="4050216" cy="486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Upload a text-based PDF or DOCX, or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paste experience text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4846290" y="1471613"/>
            <a:ext cx="66486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880" dirty="0"/>
          </a:p>
        </p:txBody>
      </p:sp>
      <p:sp>
        <p:nvSpPr>
          <p:cNvPr id="7" name="Text 5"/>
          <p:cNvSpPr/>
          <p:nvPr/>
        </p:nvSpPr>
        <p:spPr>
          <a:xfrm>
            <a:off x="5496595" y="1535344"/>
            <a:ext cx="3877828" cy="486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and edit the extracted text;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inspect keyword evidence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548580" y="2197001"/>
            <a:ext cx="658669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880" dirty="0"/>
          </a:p>
        </p:txBody>
      </p:sp>
      <p:sp>
        <p:nvSpPr>
          <p:cNvPr id="9" name="Text 7"/>
          <p:cNvSpPr/>
          <p:nvPr/>
        </p:nvSpPr>
        <p:spPr>
          <a:xfrm>
            <a:off x="1194122" y="2260732"/>
            <a:ext cx="3897273" cy="486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Compare the same input with all 65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role descriptions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4846290" y="2197001"/>
            <a:ext cx="670084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880" dirty="0"/>
          </a:p>
        </p:txBody>
      </p:sp>
      <p:sp>
        <p:nvSpPr>
          <p:cNvPr id="11" name="Text 9"/>
          <p:cNvSpPr/>
          <p:nvPr/>
        </p:nvSpPr>
        <p:spPr>
          <a:xfrm>
            <a:off x="5500613" y="2260732"/>
            <a:ext cx="3129171" cy="720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Select a career, read its SDG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rationale and explore linked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learning resources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548580" y="4381872"/>
            <a:ext cx="7377432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real-user accounts and hiring decisions are outside this demo</a:t>
            </a:r>
            <a:endParaRPr lang="en-US" sz="144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7688" y="4233118"/>
            <a:ext cx="8048625" cy="3952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5252770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the matching works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533525"/>
            <a:ext cx="4193872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ABBCB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Local CPU inference with multilingual-e5-small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548580" y="2214711"/>
            <a:ext cx="3348960" cy="193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76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Native </a:t>
            </a:r>
            <a:pPr algn="l" indent="0" marL="0">
              <a:lnSpc>
                <a:spcPts val="11376"/>
              </a:lnSpc>
              <a:buNone/>
            </a:pPr>
            <a:r>
              <a:rPr lang="en-US" sz="864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384</a:t>
            </a:r>
            <a:endParaRPr lang="en-US" sz="1440" dirty="0"/>
          </a:p>
          <a:p>
            <a:pPr algn="l" indent="0" marL="0">
              <a:lnSpc>
                <a:spcPts val="11376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-dimensional embeddings and</a:t>
            </a:r>
            <a:endParaRPr lang="en-US" sz="1440" dirty="0"/>
          </a:p>
          <a:p>
            <a:pPr algn="l" indent="0" marL="0">
              <a:lnSpc>
                <a:spcPts val="11376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cosine similarity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4480545" y="1533525"/>
            <a:ext cx="5024564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Percentage = max(0, cosine) × 100; scores do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 need to sum to 100%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4480545" y="2266206"/>
            <a:ext cx="5314972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English or Chinese keyword recognition explains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overlap without changing scores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4480545" y="2998887"/>
            <a:ext cx="5059970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b="1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Match percentage is not hiring probability or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b="1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 mastery</a:t>
            </a:r>
            <a:endParaRPr lang="en-US" sz="14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9344412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SDG alignment: learning, work and inclusion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584945"/>
            <a:ext cx="5108049" cy="537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8"/>
              </a:lnSpc>
              <a:buNone/>
            </a:pPr>
            <a:r>
              <a:rPr lang="en-US" sz="15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SDG 4.4:</a:t>
            </a:r>
            <a:pPr algn="l" indent="0" marL="0">
              <a:lnSpc>
                <a:spcPts val="2058"/>
              </a:lnSpc>
              <a:buNone/>
            </a:pPr>
            <a:r>
              <a:rPr lang="en-US" sz="158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access to learning resources for</a:t>
            </a:r>
            <a:endParaRPr lang="en-US" sz="1580" dirty="0"/>
          </a:p>
          <a:p>
            <a:pPr algn="l" indent="0" marL="0">
              <a:lnSpc>
                <a:spcPts val="2058"/>
              </a:lnSpc>
              <a:buNone/>
            </a:pPr>
            <a:r>
              <a:rPr lang="en-US" sz="158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job-relevant skills</a:t>
            </a:r>
            <a:endParaRPr lang="en-US" sz="1580" dirty="0"/>
          </a:p>
        </p:txBody>
      </p:sp>
      <p:sp>
        <p:nvSpPr>
          <p:cNvPr id="5" name="Text 3"/>
          <p:cNvSpPr/>
          <p:nvPr/>
        </p:nvSpPr>
        <p:spPr>
          <a:xfrm>
            <a:off x="548580" y="2364953"/>
            <a:ext cx="559096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SDG 8.5:</a:t>
            </a:r>
            <a:pPr algn="l" indent="0" marL="0">
              <a:buNone/>
            </a:pPr>
            <a:r>
              <a:rPr lang="en-US" sz="158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support informed career preparation—not</a:t>
            </a:r>
            <a:endParaRPr lang="en-US" sz="1580" dirty="0"/>
          </a:p>
        </p:txBody>
      </p:sp>
      <p:sp>
        <p:nvSpPr>
          <p:cNvPr id="6" name="Text 4"/>
          <p:cNvSpPr/>
          <p:nvPr/>
        </p:nvSpPr>
        <p:spPr>
          <a:xfrm>
            <a:off x="1063972" y="2626370"/>
            <a:ext cx="301840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8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guaranteed employment</a:t>
            </a:r>
            <a:endParaRPr lang="en-US" sz="1580" dirty="0"/>
          </a:p>
        </p:txBody>
      </p:sp>
      <p:sp>
        <p:nvSpPr>
          <p:cNvPr id="7" name="Text 5"/>
          <p:cNvSpPr/>
          <p:nvPr/>
        </p:nvSpPr>
        <p:spPr>
          <a:xfrm>
            <a:off x="548580" y="3144962"/>
            <a:ext cx="5459499" cy="537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8"/>
              </a:lnSpc>
              <a:buNone/>
            </a:pPr>
            <a:r>
              <a:rPr lang="en-US" sz="158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SDG 10.2:</a:t>
            </a:r>
            <a:pPr algn="l" indent="0" marL="0">
              <a:lnSpc>
                <a:spcPts val="2058"/>
              </a:lnSpc>
              <a:buNone/>
            </a:pPr>
            <a:r>
              <a:rPr lang="en-US" sz="158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bilingual access and clearly stated</a:t>
            </a:r>
            <a:endParaRPr lang="en-US" sz="1580" dirty="0"/>
          </a:p>
          <a:p>
            <a:pPr algn="l" indent="0" marL="0">
              <a:lnSpc>
                <a:spcPts val="2058"/>
              </a:lnSpc>
              <a:buNone/>
            </a:pPr>
            <a:r>
              <a:rPr lang="en-US" sz="158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learning costs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5485991" y="1594954"/>
            <a:ext cx="3109913" cy="3033712"/>
          </a:xfrm>
          <a:prstGeom prst="rect">
            <a:avLst/>
          </a:prstGeom>
          <a:solidFill>
            <a:srgbClr val="8FB8A0"/>
          </a:solidFill>
          <a:ln/>
        </p:spPr>
      </p:sp>
      <p:sp>
        <p:nvSpPr>
          <p:cNvPr id="9" name="Text 7"/>
          <p:cNvSpPr/>
          <p:nvPr/>
        </p:nvSpPr>
        <p:spPr>
          <a:xfrm>
            <a:off x="5760765" y="1859235"/>
            <a:ext cx="3374402" cy="727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All 65 roles also carry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application-specific SDG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goals, targets and source links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5760765" y="3632076"/>
            <a:ext cx="3342479" cy="727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Potential alignment is not UN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endorsement or measured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social impact</a:t>
            </a:r>
            <a:endParaRPr lang="en-US" sz="14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7821364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transparent full-stack architecture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533525"/>
            <a:ext cx="4758050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 + Vite</a:t>
            </a:r>
            <a:pPr algn="l" indent="0" marL="0"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for the interface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548580" y="2064023"/>
            <a:ext cx="5572683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WebGL/GLSL</a:t>
            </a:r>
            <a:pPr algn="l" indent="0" marL="0"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orb and Canvas 2D particle entrance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548580" y="2594521"/>
            <a:ext cx="7929808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</a:t>
            </a:r>
            <a:pPr algn="l" indent="0" marL="0"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for document extraction, matching, courses and demo sessions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548580" y="3125019"/>
            <a:ext cx="7825331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JSON/CSV</a:t>
            </a:r>
            <a:pPr algn="l" indent="0" marL="0"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data snapshots and a locally generated career-vector index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548580" y="3655516"/>
            <a:ext cx="8429365" cy="2524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8FB8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</a:t>
            </a:r>
            <a:pPr algn="l" indent="0" marL="0"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contracts and generated TypeScript clients; no SQL server required</a:t>
            </a:r>
            <a:endParaRPr lang="en-US" sz="144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7688" y="1541897"/>
            <a:ext cx="8048625" cy="347663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88" y="2072394"/>
            <a:ext cx="8048625" cy="347663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88" y="2602892"/>
            <a:ext cx="8048625" cy="347663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688" y="3133390"/>
            <a:ext cx="8048625" cy="3476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8493502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Sources and learning recommendations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584945"/>
            <a:ext cx="5148582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project-owner-supplied CSV is the 65-role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matching catalogue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548580" y="2266131"/>
            <a:ext cx="5035205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Courses link to official providers with reasons,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conditions and review dates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548580" y="2947318"/>
            <a:ext cx="4513496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goal pages support curated role-level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SDG explanations</a:t>
            </a:r>
            <a:endParaRPr lang="en-US" sz="1440" dirty="0"/>
          </a:p>
        </p:txBody>
      </p:sp>
      <p:sp>
        <p:nvSpPr>
          <p:cNvPr id="7" name="Shape 5"/>
          <p:cNvSpPr/>
          <p:nvPr/>
        </p:nvSpPr>
        <p:spPr>
          <a:xfrm>
            <a:off x="5304011" y="1594507"/>
            <a:ext cx="3290887" cy="1766887"/>
          </a:xfrm>
          <a:prstGeom prst="rect">
            <a:avLst/>
          </a:prstGeom>
          <a:ln/>
        </p:spPr>
      </p:sp>
      <p:sp>
        <p:nvSpPr>
          <p:cNvPr id="8" name="Text 6"/>
          <p:cNvSpPr/>
          <p:nvPr/>
        </p:nvSpPr>
        <p:spPr>
          <a:xfrm>
            <a:off x="5303490" y="1795388"/>
            <a:ext cx="4005813" cy="76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5"/>
              </a:lnSpc>
              <a:buNone/>
            </a:pPr>
            <a:r>
              <a:rPr lang="en-US" sz="151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O*NET, BLS, arXiv and Malaysian</a:t>
            </a:r>
            <a:endParaRPr lang="en-US" sz="1510" dirty="0"/>
          </a:p>
          <a:p>
            <a:pPr algn="l" indent="0" marL="0">
              <a:lnSpc>
                <a:spcPts val="1965"/>
              </a:lnSpc>
              <a:buNone/>
            </a:pPr>
            <a:r>
              <a:rPr lang="en-US" sz="151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sources remain separate historical</a:t>
            </a:r>
            <a:endParaRPr lang="en-US" sz="1510" dirty="0"/>
          </a:p>
          <a:p>
            <a:pPr algn="l" indent="0" marL="0">
              <a:lnSpc>
                <a:spcPts val="1965"/>
              </a:lnSpc>
              <a:buNone/>
            </a:pPr>
            <a:r>
              <a:rPr lang="en-US" sz="151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reference data</a:t>
            </a:r>
            <a:endParaRPr lang="en-US" sz="1510" dirty="0"/>
          </a:p>
        </p:txBody>
      </p:sp>
      <p:sp>
        <p:nvSpPr>
          <p:cNvPr id="9" name="Text 7"/>
          <p:cNvSpPr/>
          <p:nvPr/>
        </p:nvSpPr>
        <p:spPr>
          <a:xfrm>
            <a:off x="5303490" y="2852738"/>
            <a:ext cx="3763097" cy="511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5"/>
              </a:lnSpc>
              <a:buNone/>
            </a:pPr>
            <a:r>
              <a:rPr lang="en-US" sz="151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Provenance and redistribution</a:t>
            </a:r>
            <a:endParaRPr lang="en-US" sz="1510" dirty="0"/>
          </a:p>
          <a:p>
            <a:pPr algn="l" indent="0" marL="0">
              <a:lnSpc>
                <a:spcPts val="1965"/>
              </a:lnSpc>
              <a:buNone/>
            </a:pPr>
            <a:r>
              <a:rPr lang="en-US" sz="1510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caveats are recorded in README</a:t>
            </a:r>
            <a:endParaRPr lang="en-US" sz="151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4011" y="1594507"/>
            <a:ext cx="3290887" cy="17668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10105936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working demo, with explicit safety boundaries</a:t>
            </a:r>
            <a:endParaRPr lang="en-US" sz="2740" dirty="0"/>
          </a:p>
        </p:txBody>
      </p:sp>
      <p:sp>
        <p:nvSpPr>
          <p:cNvPr id="4" name="Shape 2"/>
          <p:cNvSpPr/>
          <p:nvPr/>
        </p:nvSpPr>
        <p:spPr>
          <a:xfrm>
            <a:off x="548097" y="1646858"/>
            <a:ext cx="4024312" cy="2981325"/>
          </a:xfrm>
          <a:prstGeom prst="rect">
            <a:avLst/>
          </a:prstGeom>
          <a:solidFill>
            <a:srgbClr val="8FB8A0"/>
          </a:solidFill>
          <a:ln/>
        </p:spPr>
      </p:sp>
      <p:sp>
        <p:nvSpPr>
          <p:cNvPr id="5" name="Text 3"/>
          <p:cNvSpPr/>
          <p:nvPr/>
        </p:nvSpPr>
        <p:spPr>
          <a:xfrm>
            <a:off x="822871" y="1910655"/>
            <a:ext cx="4211479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Server-validated shared demo sign-in,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session restoration and logout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822871" y="2890242"/>
            <a:ext cx="3714437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PBKDF2-HMAC-SHA256: 600,000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iterations and a random salt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822871" y="3869829"/>
            <a:ext cx="4158756" cy="49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HttpOnly cookie, two-hour in-memory</a:t>
            </a:r>
            <a:endParaRPr lang="en-US" sz="1440" dirty="0"/>
          </a:p>
          <a:p>
            <a:pPr algn="l" indent="0" marL="0">
              <a:lnSpc>
                <a:spcPts val="1872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sessions and login rate limits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5120580" y="1842304"/>
            <a:ext cx="4508562" cy="777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2"/>
              </a:lnSpc>
              <a:buNone/>
            </a:pPr>
            <a:r>
              <a:rPr lang="en-US" sz="155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Resume processing requires consent;</a:t>
            </a:r>
            <a:endParaRPr lang="en-US" sz="1550" dirty="0"/>
          </a:p>
          <a:p>
            <a:pPr algn="l" indent="0" marL="0">
              <a:lnSpc>
                <a:spcPts val="2012"/>
              </a:lnSpc>
              <a:buNone/>
            </a:pPr>
            <a:r>
              <a:rPr lang="en-US" sz="155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files, extracted text and resume</a:t>
            </a:r>
            <a:endParaRPr lang="en-US" sz="1550" dirty="0"/>
          </a:p>
          <a:p>
            <a:pPr algn="l" indent="0" marL="0">
              <a:lnSpc>
                <a:spcPts val="2012"/>
              </a:lnSpc>
              <a:buNone/>
            </a:pPr>
            <a:r>
              <a:rPr lang="en-US" sz="1550" dirty="0">
                <a:solidFill>
                  <a:srgbClr val="EFF4E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vectors are not retained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20580" y="2917512"/>
            <a:ext cx="3593611" cy="777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2"/>
              </a:lnSpc>
              <a:buNone/>
            </a:pPr>
            <a:r>
              <a:rPr lang="en-US" sz="1550" b="1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Public demo identity is not</a:t>
            </a:r>
            <a:endParaRPr lang="en-US" sz="1550" dirty="0"/>
          </a:p>
          <a:p>
            <a:pPr algn="l" indent="0" marL="0">
              <a:lnSpc>
                <a:spcPts val="2012"/>
              </a:lnSpc>
              <a:buNone/>
            </a:pPr>
            <a:r>
              <a:rPr lang="en-US" sz="1550" b="1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production authentication or</a:t>
            </a:r>
            <a:endParaRPr lang="en-US" sz="1550" dirty="0"/>
          </a:p>
          <a:p>
            <a:pPr algn="l" indent="0" marL="0">
              <a:lnSpc>
                <a:spcPts val="2012"/>
              </a:lnSpc>
              <a:buNone/>
            </a:pPr>
            <a:r>
              <a:rPr lang="en-US" sz="1550" b="1" dirty="0">
                <a:solidFill>
                  <a:srgbClr val="B6D5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private-data authorization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FB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580" y="363810"/>
            <a:ext cx="8041347" cy="476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40" b="1" spc="-68" kern="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Verified delivery—and responsible use</a:t>
            </a:r>
            <a:endParaRPr lang="en-US" sz="2740" dirty="0"/>
          </a:p>
        </p:txBody>
      </p:sp>
      <p:sp>
        <p:nvSpPr>
          <p:cNvPr id="4" name="Text 2"/>
          <p:cNvSpPr/>
          <p:nvPr/>
        </p:nvSpPr>
        <p:spPr>
          <a:xfrm>
            <a:off x="548580" y="1237283"/>
            <a:ext cx="1208819" cy="1000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760" b="1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65</a:t>
            </a:r>
            <a:endParaRPr lang="en-US" sz="5760" dirty="0"/>
          </a:p>
        </p:txBody>
      </p:sp>
      <p:sp>
        <p:nvSpPr>
          <p:cNvPr id="5" name="Text 3"/>
          <p:cNvSpPr/>
          <p:nvPr/>
        </p:nvSpPr>
        <p:spPr>
          <a:xfrm>
            <a:off x="1434480" y="1784970"/>
            <a:ext cx="446783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3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backend regression tests passed</a:t>
            </a:r>
            <a:endParaRPr lang="en-US" sz="1730" dirty="0"/>
          </a:p>
        </p:txBody>
      </p:sp>
      <p:sp>
        <p:nvSpPr>
          <p:cNvPr id="6" name="Text 4"/>
          <p:cNvSpPr/>
          <p:nvPr/>
        </p:nvSpPr>
        <p:spPr>
          <a:xfrm>
            <a:off x="548580" y="2409709"/>
            <a:ext cx="4631226" cy="720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Independent source-package installation,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fresh model download and index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creation passed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4846290" y="2409709"/>
            <a:ext cx="4239726" cy="720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Interface regeneration, TypeScript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checks, production build and full HTTP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 passed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548580" y="3369204"/>
            <a:ext cx="4848017" cy="720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GitHub-ready source includes data,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frontend, backend, interface definitions and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setup instructions</a:t>
            </a:r>
            <a:endParaRPr lang="en-US" sz="1440" dirty="0"/>
          </a:p>
        </p:txBody>
      </p:sp>
      <p:sp>
        <p:nvSpPr>
          <p:cNvPr id="9" name="Text 7"/>
          <p:cNvSpPr/>
          <p:nvPr/>
        </p:nvSpPr>
        <p:spPr>
          <a:xfrm>
            <a:off x="4846290" y="3369204"/>
            <a:ext cx="4917765" cy="486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First setup needs internet; inference runs on</a:t>
            </a:r>
            <a:endParaRPr lang="en-US" sz="1440" dirty="0"/>
          </a:p>
          <a:p>
            <a:pPr algn="l" indent="0" marL="0">
              <a:lnSpc>
                <a:spcPts val="1843"/>
              </a:lnSpc>
              <a:buNone/>
            </a:pPr>
            <a:r>
              <a:rPr lang="en-US" sz="1440" dirty="0">
                <a:solidFill>
                  <a:srgbClr val="0C121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application backend, not in the browser</a:t>
            </a:r>
            <a:endParaRPr lang="en-US" sz="14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2026-10-24T18:11:08Z</dcterms:created>
  <dcterms:modified xsi:type="dcterms:W3CDTF">2026-10-24T18:11:08Z</dcterms:modified>
</cp:coreProperties>
</file>